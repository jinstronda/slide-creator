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2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C4CB"/>
    <a:srgbClr val="CFD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8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https://pitch-assets-ccb95893-de3f-4266-973c-20049231b248.s3.eu-west-1.amazonaws.com/ff00ba62-7b8d-497c-9d10-9849774952a7?pitch-bytes=278&amp;pitch-content-type=image%2Fpng">
            <a:extLst>
              <a:ext uri="{FF2B5EF4-FFF2-40B4-BE49-F238E27FC236}">
                <a16:creationId xmlns:a16="http://schemas.microsoft.com/office/drawing/2014/main" id="{FA85C24D-6BD3-D46A-9B78-DECEBF774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9" r="1129"/>
          <a:stretch/>
        </p:blipFill>
        <p:spPr>
          <a:xfrm>
            <a:off x="208917" y="1365514"/>
            <a:ext cx="2108272" cy="21597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116" y="484360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 wrap="square" lIns="486363" tIns="1124" rIns="486363" bIns="1124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6" name="Text 2"/>
          <p:cNvSpPr/>
          <p:nvPr/>
        </p:nvSpPr>
        <p:spPr>
          <a:xfrm>
            <a:off x="8734207" y="4896433"/>
            <a:ext cx="214418" cy="129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{{sn}}</a:t>
            </a:r>
            <a:endParaRPr lang="en-US" sz="675" dirty="0">
              <a:ea typeface="TWK Lausanne"/>
            </a:endParaRPr>
          </a:p>
        </p:txBody>
      </p:sp>
      <p:sp>
        <p:nvSpPr>
          <p:cNvPr id="7" name="Text 3"/>
          <p:cNvSpPr/>
          <p:nvPr/>
        </p:nvSpPr>
        <p:spPr>
          <a:xfrm>
            <a:off x="8071928" y="4896433"/>
            <a:ext cx="597151" cy="1263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Augusta Labs</a:t>
            </a:r>
            <a:endParaRPr lang="en-US" sz="675" dirty="0">
              <a:latin typeface="TWK Lausanne"/>
              <a:ea typeface="TWK Lausanne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94712" y="90624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/>
          <a:lstStyle/>
          <a:p>
            <a:endParaRPr lang="en-GB">
              <a:latin typeface="TWK Lausanne"/>
              <a:ea typeface="TWK Lausanne"/>
            </a:endParaRPr>
          </a:p>
        </p:txBody>
      </p:sp>
      <p:sp>
        <p:nvSpPr>
          <p:cNvPr id="9" name="Text 5"/>
          <p:cNvSpPr/>
          <p:nvPr/>
        </p:nvSpPr>
        <p:spPr>
          <a:xfrm>
            <a:off x="194734" y="552613"/>
            <a:ext cx="8763448" cy="29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0"/>
              </a:lnSpc>
            </a:pPr>
            <a:r>
              <a:rPr lang="en-US" sz="1800" kern="0" spc="-24" dirty="0">
                <a:solidFill>
                  <a:srgbClr val="2B2A35"/>
                </a:solidFill>
                <a:latin typeface="TWK Lausanne"/>
                <a:ea typeface="TWK Lausanne"/>
                <a:cs typeface="Lato" pitchFamily="34" charset="-120"/>
              </a:rPr>
              <a:t>{{slide_case_studies_subtitle}}</a:t>
            </a:r>
            <a:endParaRPr lang="en-US" sz="1800" dirty="0">
              <a:latin typeface="TWK Lausanne"/>
              <a:ea typeface="TWK Lausanne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75709" y="130791"/>
            <a:ext cx="8191091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{{slide_case_studies_title}}</a:t>
            </a:r>
            <a:endParaRPr lang="en-US" sz="900" dirty="0">
              <a:latin typeface="TWK Lausanne"/>
              <a:ea typeface="TWK Lausanne"/>
            </a:endParaRPr>
          </a:p>
        </p:txBody>
      </p:sp>
      <p:pic>
        <p:nvPicPr>
          <p:cNvPr id="11" name="Image 1" descr="https://icon-sets.static.services.pitch.com/icon-sets/Material-Outlined/map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4010" y="200163"/>
            <a:ext cx="133350" cy="133350"/>
          </a:xfrm>
          <a:prstGeom prst="rect">
            <a:avLst/>
          </a:prstGeom>
        </p:spPr>
      </p:pic>
      <p:pic>
        <p:nvPicPr>
          <p:cNvPr id="15" name="Image 2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3"/>
          <a:srcRect l="1129" r="1129"/>
          <a:stretch/>
        </p:blipFill>
        <p:spPr>
          <a:xfrm>
            <a:off x="2412478" y="1365514"/>
            <a:ext cx="2110940" cy="2159721"/>
          </a:xfrm>
          <a:prstGeom prst="rect">
            <a:avLst/>
          </a:prstGeom>
        </p:spPr>
      </p:pic>
      <p:sp>
        <p:nvSpPr>
          <p:cNvPr id="16" name="case_study_2_name"/>
          <p:cNvSpPr/>
          <p:nvPr/>
        </p:nvSpPr>
        <p:spPr>
          <a:xfrm>
            <a:off x="2558934" y="1803395"/>
            <a:ext cx="139140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10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{{case_study_2_name}}</a:t>
            </a:r>
            <a:endParaRPr lang="en-US" sz="975" dirty="0">
              <a:latin typeface="TWK Lausanne"/>
              <a:ea typeface="TWK Lausanne"/>
            </a:endParaRPr>
          </a:p>
        </p:txBody>
      </p:sp>
      <p:sp>
        <p:nvSpPr>
          <p:cNvPr id="17" name="grey2"/>
          <p:cNvSpPr/>
          <p:nvPr/>
        </p:nvSpPr>
        <p:spPr>
          <a:xfrm>
            <a:off x="2549374" y="1546283"/>
            <a:ext cx="1006977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5943" tIns="19116" rIns="55943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2545200" y="1589908"/>
            <a:ext cx="10109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b="1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{{case_study_2_category}}</a:t>
            </a:r>
            <a:endParaRPr lang="en-US" sz="600" b="1" dirty="0">
              <a:latin typeface="TWK Lausanne"/>
              <a:ea typeface="TWK Lausanne"/>
            </a:endParaRPr>
          </a:p>
        </p:txBody>
      </p:sp>
      <p:pic>
        <p:nvPicPr>
          <p:cNvPr id="22" name="Image 3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3"/>
          <a:srcRect l="1129" r="1129"/>
          <a:stretch/>
        </p:blipFill>
        <p:spPr>
          <a:xfrm>
            <a:off x="4642763" y="1365514"/>
            <a:ext cx="2110940" cy="2159721"/>
          </a:xfrm>
          <a:prstGeom prst="rect">
            <a:avLst/>
          </a:prstGeom>
        </p:spPr>
      </p:pic>
      <p:sp>
        <p:nvSpPr>
          <p:cNvPr id="23" name="grey3"/>
          <p:cNvSpPr/>
          <p:nvPr/>
        </p:nvSpPr>
        <p:spPr>
          <a:xfrm>
            <a:off x="4768090" y="1546283"/>
            <a:ext cx="1009632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6091" tIns="19116" rIns="56091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770424" y="1589908"/>
            <a:ext cx="10137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b="1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{{case_study_3_category}}</a:t>
            </a:r>
            <a:endParaRPr lang="en-US" sz="600" b="1" dirty="0">
              <a:latin typeface="TWK Lausanne"/>
              <a:ea typeface="TWK Lausanne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2408470" y="1062774"/>
            <a:ext cx="2115233" cy="238125"/>
          </a:xfrm>
          <a:prstGeom prst="roundRect">
            <a:avLst>
              <a:gd name="adj" fmla="val 80000"/>
            </a:avLst>
          </a:prstGeom>
          <a:solidFill>
            <a:srgbClr val="F9F9F9"/>
          </a:solidFill>
          <a:ln w="5292">
            <a:solidFill>
              <a:srgbClr val="E5E7F0"/>
            </a:solidFill>
          </a:ln>
        </p:spPr>
        <p:txBody>
          <a:bodyPr wrap="square" lIns="117513" tIns="28112" rIns="117513" bIns="2811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2445362" y="1091349"/>
            <a:ext cx="180975" cy="180975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10054" tIns="21365" rIns="10054" bIns="21365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7" name="label2"/>
          <p:cNvSpPr/>
          <p:nvPr/>
        </p:nvSpPr>
        <p:spPr>
          <a:xfrm>
            <a:off x="2663268" y="1103255"/>
            <a:ext cx="721993" cy="148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8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{{tab_2_label}}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632211" y="1062625"/>
            <a:ext cx="2115233" cy="238125"/>
          </a:xfrm>
          <a:prstGeom prst="roundRect">
            <a:avLst>
              <a:gd name="adj" fmla="val 80000"/>
            </a:avLst>
          </a:prstGeom>
          <a:solidFill>
            <a:srgbClr val="F9F9F9"/>
          </a:solidFill>
          <a:ln w="5292">
            <a:solidFill>
              <a:srgbClr val="E5E7F0"/>
            </a:solidFill>
          </a:ln>
        </p:spPr>
        <p:txBody>
          <a:bodyPr wrap="square" lIns="117513" tIns="28112" rIns="117513" bIns="2811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669103" y="1091200"/>
            <a:ext cx="180975" cy="180975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10054" tIns="21365" rIns="10054" bIns="21365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30" name="label3"/>
          <p:cNvSpPr/>
          <p:nvPr/>
        </p:nvSpPr>
        <p:spPr>
          <a:xfrm>
            <a:off x="4887009" y="1103106"/>
            <a:ext cx="721993" cy="148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8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{{tab_3_label}}</a:t>
            </a:r>
            <a:endParaRPr lang="en-US" sz="825" dirty="0">
              <a:latin typeface="TWK Lausanne"/>
              <a:ea typeface="TWK Lausanne"/>
            </a:endParaRPr>
          </a:p>
        </p:txBody>
      </p:sp>
      <p:pic>
        <p:nvPicPr>
          <p:cNvPr id="31" name="logo2" descr="https://icon-sets.static.services.pitch.com/icon-sets/Material-Outlined/discount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83462" y="1129449"/>
            <a:ext cx="104775" cy="104775"/>
          </a:xfrm>
          <a:prstGeom prst="rect">
            <a:avLst/>
          </a:prstGeom>
        </p:spPr>
      </p:pic>
      <p:pic>
        <p:nvPicPr>
          <p:cNvPr id="32" name="logo3" descr="https://icon-sets.static.services.pitch.com/icon-sets/Material-Outlined/security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07203" y="1129300"/>
            <a:ext cx="104775" cy="104775"/>
          </a:xfrm>
          <a:prstGeom prst="rect">
            <a:avLst/>
          </a:prstGeom>
        </p:spPr>
      </p:pic>
      <p:pic>
        <p:nvPicPr>
          <p:cNvPr id="36" name="Image 6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3"/>
          <a:srcRect l="1083" r="1083"/>
          <a:stretch/>
        </p:blipFill>
        <p:spPr>
          <a:xfrm>
            <a:off x="6829705" y="1365514"/>
            <a:ext cx="2110537" cy="2160000"/>
          </a:xfrm>
          <a:prstGeom prst="rect">
            <a:avLst/>
          </a:prstGeom>
        </p:spPr>
      </p:pic>
      <p:sp>
        <p:nvSpPr>
          <p:cNvPr id="37" name="case_study_4_name"/>
          <p:cNvSpPr/>
          <p:nvPr/>
        </p:nvSpPr>
        <p:spPr>
          <a:xfrm>
            <a:off x="6979096" y="1803395"/>
            <a:ext cx="139140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10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{{case_study_4_name}}</a:t>
            </a:r>
            <a:endParaRPr lang="en-US" sz="975" dirty="0">
              <a:latin typeface="TWK Lausanne"/>
              <a:ea typeface="TWK Lausanne"/>
            </a:endParaRPr>
          </a:p>
        </p:txBody>
      </p:sp>
      <p:sp>
        <p:nvSpPr>
          <p:cNvPr id="38" name="grey4"/>
          <p:cNvSpPr/>
          <p:nvPr/>
        </p:nvSpPr>
        <p:spPr>
          <a:xfrm>
            <a:off x="6979096" y="1543268"/>
            <a:ext cx="1015402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6411" tIns="19116" rIns="56411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6987600" y="1586893"/>
            <a:ext cx="10207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b="1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{{case_study_4_category}}</a:t>
            </a:r>
            <a:endParaRPr lang="en-US" sz="600" b="1" dirty="0">
              <a:latin typeface="TWK Lausanne"/>
              <a:ea typeface="TWK Lausanne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6844694" y="1062476"/>
            <a:ext cx="2115233" cy="238125"/>
          </a:xfrm>
          <a:prstGeom prst="roundRect">
            <a:avLst>
              <a:gd name="adj" fmla="val 80000"/>
            </a:avLst>
          </a:prstGeom>
          <a:solidFill>
            <a:srgbClr val="F9F9F9"/>
          </a:solidFill>
          <a:ln w="5292">
            <a:solidFill>
              <a:srgbClr val="E5E7F0"/>
            </a:solidFill>
          </a:ln>
        </p:spPr>
        <p:txBody>
          <a:bodyPr wrap="square" lIns="117513" tIns="28112" rIns="117513" bIns="2811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6881586" y="1091051"/>
            <a:ext cx="180975" cy="180975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10054" tIns="21365" rIns="10054" bIns="21365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42" name="label4"/>
          <p:cNvSpPr/>
          <p:nvPr/>
        </p:nvSpPr>
        <p:spPr>
          <a:xfrm>
            <a:off x="7099492" y="1102957"/>
            <a:ext cx="1873821" cy="167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r>
              <a:rPr lang="en-US" sz="800" kern="0" spc="-24" dirty="0">
                <a:solidFill>
                  <a:srgbClr val="939DA8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{{tab_4_label}}</a:t>
            </a:r>
            <a:endParaRPr lang="en-US" sz="825" dirty="0">
              <a:ea typeface="TWK Lausanne"/>
            </a:endParaRPr>
          </a:p>
        </p:txBody>
      </p:sp>
      <p:pic>
        <p:nvPicPr>
          <p:cNvPr id="43" name="logo4" descr="https://icon-sets.static.services.pitch.com/icon-sets/Material-Outlined/track_changes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919038" y="1129151"/>
            <a:ext cx="104775" cy="104775"/>
          </a:xfrm>
          <a:prstGeom prst="rect">
            <a:avLst/>
          </a:prstGeom>
        </p:spPr>
      </p:pic>
      <p:sp>
        <p:nvSpPr>
          <p:cNvPr id="47" name="n1"/>
          <p:cNvSpPr/>
          <p:nvPr/>
        </p:nvSpPr>
        <p:spPr>
          <a:xfrm>
            <a:off x="336178" y="3050345"/>
            <a:ext cx="861774" cy="32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{{n1}}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8" name="grey1"/>
          <p:cNvSpPr/>
          <p:nvPr/>
        </p:nvSpPr>
        <p:spPr>
          <a:xfrm>
            <a:off x="337974" y="1545942"/>
            <a:ext cx="986256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4792" tIns="19116" rIns="54792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339754" y="1589566"/>
            <a:ext cx="99127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b="1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{{case_study_1_category}}</a:t>
            </a:r>
            <a:endParaRPr lang="en-US" sz="600" b="1" dirty="0">
              <a:latin typeface="TWK Lausanne"/>
              <a:ea typeface="TWK Lausanne"/>
            </a:endParaRPr>
          </a:p>
        </p:txBody>
      </p:sp>
      <p:sp>
        <p:nvSpPr>
          <p:cNvPr id="50" name="Text 39"/>
          <p:cNvSpPr/>
          <p:nvPr/>
        </p:nvSpPr>
        <p:spPr>
          <a:xfrm>
            <a:off x="194656" y="1062923"/>
            <a:ext cx="2115233" cy="238125"/>
          </a:xfrm>
          <a:prstGeom prst="roundRect">
            <a:avLst>
              <a:gd name="adj" fmla="val 80000"/>
            </a:avLst>
          </a:prstGeom>
          <a:solidFill>
            <a:srgbClr val="F9F9F9"/>
          </a:solidFill>
          <a:ln w="5292">
            <a:solidFill>
              <a:srgbClr val="E5E7F0"/>
            </a:solidFill>
          </a:ln>
        </p:spPr>
        <p:txBody>
          <a:bodyPr wrap="square" lIns="117513" tIns="28112" rIns="117513" bIns="2811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231549" y="1091498"/>
            <a:ext cx="180975" cy="180975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10054" tIns="21365" rIns="10054" bIns="21365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52" name="label1"/>
          <p:cNvSpPr/>
          <p:nvPr/>
        </p:nvSpPr>
        <p:spPr>
          <a:xfrm>
            <a:off x="449455" y="1103404"/>
            <a:ext cx="721993" cy="148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8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{{tab_1_label}}</a:t>
            </a:r>
            <a:endParaRPr lang="en-US" sz="825" dirty="0">
              <a:latin typeface="TWK Lausanne"/>
              <a:ea typeface="TWK Lausanne"/>
            </a:endParaRPr>
          </a:p>
        </p:txBody>
      </p:sp>
      <p:pic>
        <p:nvPicPr>
          <p:cNvPr id="53" name="logo1" descr="https://icon-sets.static.services.pitch.com/icon-sets/Material-Outlined/auto_mode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269649" y="1129598"/>
            <a:ext cx="104775" cy="104775"/>
          </a:xfrm>
          <a:prstGeom prst="rect">
            <a:avLst/>
          </a:prstGeom>
        </p:spPr>
      </p:pic>
      <p:sp>
        <p:nvSpPr>
          <p:cNvPr id="54" name="case_study_3_name"/>
          <p:cNvSpPr/>
          <p:nvPr/>
        </p:nvSpPr>
        <p:spPr>
          <a:xfrm>
            <a:off x="4767732" y="1803395"/>
            <a:ext cx="139140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10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{{case_study_3_name}}</a:t>
            </a:r>
            <a:endParaRPr lang="en-US" sz="975" dirty="0">
              <a:latin typeface="TWK Lausanne"/>
              <a:ea typeface="TWK Lausanne"/>
            </a:endParaRPr>
          </a:p>
        </p:txBody>
      </p:sp>
      <p:sp>
        <p:nvSpPr>
          <p:cNvPr id="56" name="case_study_1_name"/>
          <p:cNvSpPr/>
          <p:nvPr/>
        </p:nvSpPr>
        <p:spPr>
          <a:xfrm>
            <a:off x="339236" y="1803395"/>
            <a:ext cx="1275990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TWK Lausanne"/>
                <a:cs typeface="Lato" pitchFamily="34" charset="-120"/>
              </a:rPr>
              <a:t>{{case_study_1_name}}</a:t>
            </a:r>
            <a:endParaRPr lang="en-US" sz="975" dirty="0">
              <a:ea typeface="TWK Lausanne"/>
            </a:endParaRPr>
          </a:p>
        </p:txBody>
      </p:sp>
      <p:sp>
        <p:nvSpPr>
          <p:cNvPr id="57" name="metric_label_case_study_1"/>
          <p:cNvSpPr/>
          <p:nvPr/>
        </p:nvSpPr>
        <p:spPr>
          <a:xfrm>
            <a:off x="1002907" y="3128421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{{metric_label_case_study_1}}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58" name="n2"/>
          <p:cNvSpPr/>
          <p:nvPr/>
        </p:nvSpPr>
        <p:spPr>
          <a:xfrm>
            <a:off x="2560704" y="3063618"/>
            <a:ext cx="940322" cy="309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{{n2}}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59" name="metric_label_case_study_2"/>
          <p:cNvSpPr/>
          <p:nvPr/>
        </p:nvSpPr>
        <p:spPr>
          <a:xfrm>
            <a:off x="3227433" y="3128421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{{metric_label_case_study_2}}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60" name="n3"/>
          <p:cNvSpPr/>
          <p:nvPr/>
        </p:nvSpPr>
        <p:spPr>
          <a:xfrm>
            <a:off x="4767852" y="3063618"/>
            <a:ext cx="940322" cy="309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{{n3}}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61" name="metric_label_case_study_3"/>
          <p:cNvSpPr/>
          <p:nvPr/>
        </p:nvSpPr>
        <p:spPr>
          <a:xfrm>
            <a:off x="5434581" y="3128421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{{metric_label_case_study_3}}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62" name="n4"/>
          <p:cNvSpPr/>
          <p:nvPr/>
        </p:nvSpPr>
        <p:spPr>
          <a:xfrm>
            <a:off x="6989045" y="3063618"/>
            <a:ext cx="940322" cy="309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{{n4}}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63" name="metric_label_case_study_4"/>
          <p:cNvSpPr/>
          <p:nvPr/>
        </p:nvSpPr>
        <p:spPr>
          <a:xfrm>
            <a:off x="7655773" y="3128421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{{metric_label_case_study_4}}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A9BBDC6-9B62-5C77-7BA0-43D0E6B5CB9F}"/>
              </a:ext>
            </a:extLst>
          </p:cNvPr>
          <p:cNvSpPr/>
          <p:nvPr/>
        </p:nvSpPr>
        <p:spPr>
          <a:xfrm>
            <a:off x="192116" y="484360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 wrap="square" lIns="486363" tIns="1124" rIns="486363" bIns="1124" rtlCol="0" anchor="ctr"/>
          <a:lstStyle/>
          <a:p>
            <a:pPr algn="ctr">
              <a:lnSpc>
                <a:spcPts val="2025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489FDC50-C546-B3FA-268D-1B8D234CB7C0}"/>
              </a:ext>
            </a:extLst>
          </p:cNvPr>
          <p:cNvSpPr/>
          <p:nvPr/>
        </p:nvSpPr>
        <p:spPr>
          <a:xfrm>
            <a:off x="270333" y="3634626"/>
            <a:ext cx="2016000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06"/>
              </a:lnSpc>
            </a:pPr>
            <a:r>
              <a:rPr lang="en-US" sz="1100" b="1" i="1" kern="0" spc="-12" dirty="0">
                <a:solidFill>
                  <a:srgbClr val="545465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{{case_study_1_title}}</a:t>
            </a:r>
            <a:endParaRPr lang="en-US" sz="1125" dirty="0">
              <a:ea typeface="TWK Lausanne"/>
            </a:endParaRPr>
          </a:p>
        </p:txBody>
      </p:sp>
      <p:sp>
        <p:nvSpPr>
          <p:cNvPr id="55" name="case_study_1_description">
            <a:extLst>
              <a:ext uri="{FF2B5EF4-FFF2-40B4-BE49-F238E27FC236}">
                <a16:creationId xmlns:a16="http://schemas.microsoft.com/office/drawing/2014/main" id="{E10B74DD-4E76-4698-BC0A-3CCCA310F57B}"/>
              </a:ext>
            </a:extLst>
          </p:cNvPr>
          <p:cNvSpPr/>
          <p:nvPr/>
        </p:nvSpPr>
        <p:spPr>
          <a:xfrm>
            <a:off x="282394" y="4195873"/>
            <a:ext cx="2025055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97"/>
              </a:lnSpc>
            </a:pPr>
            <a:r>
              <a:rPr lang="en-US" sz="600" kern="0" spc="-12" dirty="0">
                <a:solidFill>
                  <a:srgbClr val="BEC4CB"/>
                </a:solidFill>
                <a:latin typeface="TWK Lausanne"/>
                <a:ea typeface="TWK Lausanne"/>
                <a:cs typeface="TWK Lausanne" pitchFamily="34" charset="-120"/>
              </a:rPr>
              <a:t>{{case_study_1_description}}</a:t>
            </a: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  <a:p>
            <a:pPr algn="l">
              <a:lnSpc>
                <a:spcPts val="797"/>
              </a:lnSpc>
            </a:pPr>
            <a:endParaRPr lang="en-US" sz="600" dirty="0">
              <a:solidFill>
                <a:schemeClr val="bg2"/>
              </a:solidFill>
              <a:latin typeface="TWK Lausanne"/>
              <a:ea typeface="TWK Lausanne"/>
            </a:endParaRPr>
          </a:p>
        </p:txBody>
      </p:sp>
      <p:sp>
        <p:nvSpPr>
          <p:cNvPr id="64" name="LINE1">
            <a:extLst>
              <a:ext uri="{FF2B5EF4-FFF2-40B4-BE49-F238E27FC236}">
                <a16:creationId xmlns:a16="http://schemas.microsoft.com/office/drawing/2014/main" id="{1D080524-D7A1-0958-D19E-76F4CEBA182E}"/>
              </a:ext>
            </a:extLst>
          </p:cNvPr>
          <p:cNvSpPr/>
          <p:nvPr/>
        </p:nvSpPr>
        <p:spPr>
          <a:xfrm>
            <a:off x="278607" y="4085398"/>
            <a:ext cx="1927507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107084" tIns="562" rIns="107084" bIns="562" rtlCol="0" anchor="ctr"/>
          <a:lstStyle/>
          <a:p>
            <a:pPr algn="ctr">
              <a:lnSpc>
                <a:spcPts val="2025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31358CA5-DDAF-5B09-CBC9-A7F8565C9CF0}"/>
              </a:ext>
            </a:extLst>
          </p:cNvPr>
          <p:cNvSpPr/>
          <p:nvPr/>
        </p:nvSpPr>
        <p:spPr>
          <a:xfrm>
            <a:off x="2480281" y="3634626"/>
            <a:ext cx="2016000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200" b="1" i="1" kern="0" spc="-12" dirty="0">
                <a:solidFill>
                  <a:srgbClr val="545465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{{case_study_2_title}}</a:t>
            </a:r>
            <a:endParaRPr lang="en-US" sz="1400" dirty="0">
              <a:ea typeface="TWK Lausanne"/>
            </a:endParaRPr>
          </a:p>
          <a:p>
            <a:pPr algn="l">
              <a:lnSpc>
                <a:spcPts val="1406"/>
              </a:lnSpc>
            </a:pPr>
            <a:endParaRPr lang="en-US" sz="1125" dirty="0">
              <a:ea typeface="TWK Lausanne"/>
            </a:endParaRPr>
          </a:p>
        </p:txBody>
      </p:sp>
      <p:sp>
        <p:nvSpPr>
          <p:cNvPr id="66" name="case_study_2_description">
            <a:extLst>
              <a:ext uri="{FF2B5EF4-FFF2-40B4-BE49-F238E27FC236}">
                <a16:creationId xmlns:a16="http://schemas.microsoft.com/office/drawing/2014/main" id="{94B25399-257E-7455-886B-F87AEDA0510B}"/>
              </a:ext>
            </a:extLst>
          </p:cNvPr>
          <p:cNvSpPr/>
          <p:nvPr/>
        </p:nvSpPr>
        <p:spPr>
          <a:xfrm>
            <a:off x="2494066" y="4193326"/>
            <a:ext cx="1928217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97"/>
              </a:lnSpc>
            </a:pPr>
            <a:r>
              <a:rPr lang="en-US" sz="600" kern="0" spc="-12" dirty="0">
                <a:solidFill>
                  <a:srgbClr val="BEC4CB"/>
                </a:solidFill>
                <a:latin typeface="TWK Lausanne"/>
                <a:ea typeface="TWK Lausanne"/>
                <a:cs typeface="TWK Lausanne" pitchFamily="34" charset="-120"/>
              </a:rPr>
              <a:t>{{case_study_2_description}}</a:t>
            </a: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  <a:p>
            <a:pPr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  <a:p>
            <a:pPr algn="l"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</p:txBody>
      </p:sp>
      <p:sp>
        <p:nvSpPr>
          <p:cNvPr id="67" name="LINE2">
            <a:extLst>
              <a:ext uri="{FF2B5EF4-FFF2-40B4-BE49-F238E27FC236}">
                <a16:creationId xmlns:a16="http://schemas.microsoft.com/office/drawing/2014/main" id="{5064BE70-666B-D9A3-74AF-D8A6F01FABD4}"/>
              </a:ext>
            </a:extLst>
          </p:cNvPr>
          <p:cNvSpPr/>
          <p:nvPr/>
        </p:nvSpPr>
        <p:spPr>
          <a:xfrm>
            <a:off x="2490279" y="4082850"/>
            <a:ext cx="1927507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107084" tIns="562" rIns="107084" bIns="562" rtlCol="0" anchor="ctr"/>
          <a:lstStyle/>
          <a:p>
            <a:pPr algn="ctr">
              <a:lnSpc>
                <a:spcPts val="2025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68620DA0-EEE2-EAAC-9879-F6F154A8C2F4}"/>
              </a:ext>
            </a:extLst>
          </p:cNvPr>
          <p:cNvSpPr/>
          <p:nvPr/>
        </p:nvSpPr>
        <p:spPr>
          <a:xfrm>
            <a:off x="4700872" y="3634626"/>
            <a:ext cx="2016000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200" b="1" i="1" kern="0" spc="-12" dirty="0">
                <a:solidFill>
                  <a:srgbClr val="545465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{{case_study_3_title}}</a:t>
            </a:r>
            <a:endParaRPr lang="en-US" sz="1400" dirty="0">
              <a:ea typeface="TWK Lausanne"/>
            </a:endParaRPr>
          </a:p>
          <a:p>
            <a:pPr algn="l">
              <a:lnSpc>
                <a:spcPts val="1406"/>
              </a:lnSpc>
            </a:pPr>
            <a:endParaRPr lang="en-US" sz="1125" dirty="0">
              <a:ea typeface="TWK Lausanne"/>
            </a:endParaRPr>
          </a:p>
        </p:txBody>
      </p:sp>
      <p:sp>
        <p:nvSpPr>
          <p:cNvPr id="69" name="case_study_3_description">
            <a:extLst>
              <a:ext uri="{FF2B5EF4-FFF2-40B4-BE49-F238E27FC236}">
                <a16:creationId xmlns:a16="http://schemas.microsoft.com/office/drawing/2014/main" id="{C0307B2B-A72E-29B3-73DC-880611B0AD5B}"/>
              </a:ext>
            </a:extLst>
          </p:cNvPr>
          <p:cNvSpPr/>
          <p:nvPr/>
        </p:nvSpPr>
        <p:spPr>
          <a:xfrm>
            <a:off x="4718975" y="4194609"/>
            <a:ext cx="2016522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97"/>
              </a:lnSpc>
            </a:pPr>
            <a:r>
              <a:rPr lang="en-US" sz="600" kern="0" spc="-12" dirty="0">
                <a:solidFill>
                  <a:srgbClr val="BEC4CB"/>
                </a:solidFill>
                <a:latin typeface="TWK Lausanne"/>
                <a:ea typeface="TWK Lausanne"/>
                <a:cs typeface="TWK Lausanne" pitchFamily="34" charset="-120"/>
              </a:rPr>
              <a:t>{{case_study_3_description}}</a:t>
            </a: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  <a:p>
            <a:pPr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  <a:p>
            <a:pPr algn="l"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  <a:ea typeface="TWK Lausanne"/>
            </a:endParaRPr>
          </a:p>
        </p:txBody>
      </p:sp>
      <p:sp>
        <p:nvSpPr>
          <p:cNvPr id="70" name="Text 28">
            <a:extLst>
              <a:ext uri="{FF2B5EF4-FFF2-40B4-BE49-F238E27FC236}">
                <a16:creationId xmlns:a16="http://schemas.microsoft.com/office/drawing/2014/main" id="{97754C0B-00A1-7AC7-7695-C0A98E26921D}"/>
              </a:ext>
            </a:extLst>
          </p:cNvPr>
          <p:cNvSpPr/>
          <p:nvPr/>
        </p:nvSpPr>
        <p:spPr>
          <a:xfrm>
            <a:off x="4715188" y="4084133"/>
            <a:ext cx="1927507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107084" tIns="562" rIns="107084" bIns="562" rtlCol="0" anchor="ctr"/>
          <a:lstStyle/>
          <a:p>
            <a:pPr algn="ctr">
              <a:lnSpc>
                <a:spcPts val="2025"/>
              </a:lnSpc>
            </a:pPr>
            <a:endParaRPr lang="en-US" sz="1350" dirty="0">
              <a:ea typeface="TWK Lausanne"/>
            </a:endParaRPr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4C458607-2CFA-8BB1-89A9-A446E726A01D}"/>
              </a:ext>
            </a:extLst>
          </p:cNvPr>
          <p:cNvSpPr/>
          <p:nvPr/>
        </p:nvSpPr>
        <p:spPr>
          <a:xfrm>
            <a:off x="6916544" y="3634626"/>
            <a:ext cx="2016000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200" b="1" i="1" kern="0" spc="-12" dirty="0">
                <a:solidFill>
                  <a:srgbClr val="545465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{{case_study_4_title}}</a:t>
            </a:r>
            <a:endParaRPr lang="en-US" sz="1400" dirty="0">
              <a:ea typeface="TWK Lausanne"/>
            </a:endParaRPr>
          </a:p>
          <a:p>
            <a:pPr algn="l">
              <a:lnSpc>
                <a:spcPts val="1406"/>
              </a:lnSpc>
            </a:pPr>
            <a:endParaRPr lang="en-US" sz="1125" dirty="0">
              <a:ea typeface="TWK Lausanne"/>
            </a:endParaRPr>
          </a:p>
        </p:txBody>
      </p:sp>
      <p:sp>
        <p:nvSpPr>
          <p:cNvPr id="72" name="case_study_4_description">
            <a:extLst>
              <a:ext uri="{FF2B5EF4-FFF2-40B4-BE49-F238E27FC236}">
                <a16:creationId xmlns:a16="http://schemas.microsoft.com/office/drawing/2014/main" id="{D794EAA6-EA41-7897-5437-37FB1F630B78}"/>
              </a:ext>
            </a:extLst>
          </p:cNvPr>
          <p:cNvSpPr/>
          <p:nvPr/>
        </p:nvSpPr>
        <p:spPr>
          <a:xfrm>
            <a:off x="6934648" y="4193226"/>
            <a:ext cx="1923719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97"/>
              </a:lnSpc>
            </a:pPr>
            <a:r>
              <a:rPr lang="en-US" sz="600" kern="0" spc="-12" dirty="0">
                <a:solidFill>
                  <a:srgbClr val="BEC4CB"/>
                </a:solidFill>
                <a:latin typeface="TWK Lausanne"/>
                <a:ea typeface="TWK Lausanne" pitchFamily="34" charset="-122"/>
                <a:cs typeface="TWK Lausanne" pitchFamily="34" charset="-120"/>
              </a:rPr>
              <a:t>{{case_study_4_description}}</a:t>
            </a:r>
            <a:endParaRPr lang="en-US" sz="600" dirty="0">
              <a:solidFill>
                <a:srgbClr val="BEC4CB"/>
              </a:solidFill>
              <a:latin typeface="TWK Lausanne"/>
            </a:endParaRPr>
          </a:p>
          <a:p>
            <a:pPr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</a:endParaRPr>
          </a:p>
          <a:p>
            <a:pPr algn="l">
              <a:lnSpc>
                <a:spcPts val="797"/>
              </a:lnSpc>
            </a:pPr>
            <a:endParaRPr lang="en-US" sz="600" dirty="0">
              <a:solidFill>
                <a:srgbClr val="BEC4CB"/>
              </a:solidFill>
              <a:latin typeface="TWK Lausanne"/>
            </a:endParaRPr>
          </a:p>
        </p:txBody>
      </p:sp>
      <p:sp>
        <p:nvSpPr>
          <p:cNvPr id="73" name="Text 39">
            <a:extLst>
              <a:ext uri="{FF2B5EF4-FFF2-40B4-BE49-F238E27FC236}">
                <a16:creationId xmlns:a16="http://schemas.microsoft.com/office/drawing/2014/main" id="{105387A3-2D78-0718-681C-8DC2FDAF0111}"/>
              </a:ext>
            </a:extLst>
          </p:cNvPr>
          <p:cNvSpPr/>
          <p:nvPr/>
        </p:nvSpPr>
        <p:spPr>
          <a:xfrm>
            <a:off x="6930860" y="4082750"/>
            <a:ext cx="1927507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107084" tIns="562" rIns="107084" bIns="562" rtlCol="0" anchor="ctr"/>
          <a:lstStyle/>
          <a:p>
            <a:pPr algn="ctr">
              <a:lnSpc>
                <a:spcPts val="2025"/>
              </a:lnSpc>
            </a:pPr>
            <a:endParaRPr lang="en-US" sz="1350" dirty="0">
              <a:ea typeface="TWK Lausan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2116" y="484360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 wrap="square" lIns="486363" tIns="1124" rIns="486363" bIns="1124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33941" y="4896433"/>
            <a:ext cx="214685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{{sn}}</a:t>
            </a:r>
            <a:endParaRPr lang="en-US" sz="675" dirty="0">
              <a:latin typeface="TWK Lausanne"/>
              <a:ea typeface="TWK Lausanne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22458" y="4896433"/>
            <a:ext cx="646621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Augusta Labs</a:t>
            </a:r>
            <a:endParaRPr lang="en-US" sz="675" dirty="0">
              <a:latin typeface="TWK Lausanne"/>
              <a:ea typeface="TWK Lausanne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94712" y="90624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/>
          <a:lstStyle/>
          <a:p>
            <a:endParaRPr lang="en-GB">
              <a:latin typeface="TWK Lausanne"/>
              <a:ea typeface="TWK Lausanne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8515" y="2647342"/>
            <a:ext cx="1412246" cy="167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sz="1100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{{case_study_1_title}}</a:t>
            </a:r>
            <a:endParaRPr lang="en-US" sz="1125" dirty="0">
              <a:latin typeface="TWK Lausanne"/>
              <a:ea typeface="TWK Lausanne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24181" y="3055397"/>
            <a:ext cx="290006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{{case_study_1_challenge_1}}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{{case_study_1_challenge_2}}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{{case_study_1_challenge_3}}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7917" y="2940728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5051" y="3072480"/>
            <a:ext cx="429156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CHALLENGE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24181" y="3689290"/>
            <a:ext cx="2923877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{{case_study_1_solution_1}}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{{case_study_1_solution_2}}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{{case_study_1_solution_3}}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5321" y="3563175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2455" y="3694927"/>
            <a:ext cx="376129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SOLUTION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1947" y="4321268"/>
            <a:ext cx="2894856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{{case_study_1_impact_1}}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{{case_study_1_impact_2}}</a:t>
            </a:r>
            <a:endParaRPr lang="en-US" sz="750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938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{{case_study_1_impact_3}}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2725" y="4185622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69859" y="4317374"/>
            <a:ext cx="271677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IMPACT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725375" y="2644746"/>
            <a:ext cx="1412246" cy="167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sz="1100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{{case_study_2_title}}</a:t>
            </a:r>
            <a:endParaRPr lang="en-US" sz="1125" dirty="0">
              <a:latin typeface="TWK Lausanne"/>
              <a:ea typeface="TWK Lausanne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01288" y="3037840"/>
            <a:ext cx="2959671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{{case_study_2_challenge_1}}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{{case_study_2_challenge_2}}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{{case_study_2_challenge_3}}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24776" y="2938132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21911" y="3069884"/>
            <a:ext cx="429156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CHALLENGE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22180" y="3560579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19315" y="3692331"/>
            <a:ext cx="376129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SOLUTION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19584" y="4183026"/>
            <a:ext cx="4146629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30368" tIns="562" rIns="23036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716719" y="4314778"/>
            <a:ext cx="271677" cy="94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50"/>
              </a:lnSpc>
            </a:pPr>
            <a:r>
              <a:rPr lang="en-US" sz="6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IMPACT</a:t>
            </a:r>
            <a:endParaRPr lang="en-US" sz="600" dirty="0">
              <a:latin typeface="TWK Lausanne"/>
              <a:ea typeface="TWK Lausanne"/>
            </a:endParaRPr>
          </a:p>
        </p:txBody>
      </p:sp>
      <p:pic>
        <p:nvPicPr>
          <p:cNvPr id="25" name="Image 0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3"/>
          <a:srcRect t="33392" b="33392"/>
          <a:stretch/>
        </p:blipFill>
        <p:spPr>
          <a:xfrm>
            <a:off x="197376" y="1073396"/>
            <a:ext cx="4327453" cy="1437378"/>
          </a:xfrm>
          <a:prstGeom prst="rect">
            <a:avLst/>
          </a:prstGeom>
        </p:spPr>
      </p:pic>
      <p:sp>
        <p:nvSpPr>
          <p:cNvPr id="26" name="n5"/>
          <p:cNvSpPr/>
          <p:nvPr/>
        </p:nvSpPr>
        <p:spPr>
          <a:xfrm>
            <a:off x="335780" y="2063566"/>
            <a:ext cx="958276" cy="309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{{n1}}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7" name="grey5"/>
          <p:cNvSpPr/>
          <p:nvPr/>
        </p:nvSpPr>
        <p:spPr>
          <a:xfrm>
            <a:off x="335671" y="1222092"/>
            <a:ext cx="906979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0388" tIns="19116" rIns="50388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37299" y="1265716"/>
            <a:ext cx="91160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{{case_study_1_category}}</a:t>
            </a:r>
            <a:endParaRPr lang="en-US" sz="600" dirty="0">
              <a:latin typeface="TWK Lausanne"/>
              <a:ea typeface="TWK Lausanne"/>
            </a:endParaRPr>
          </a:p>
        </p:txBody>
      </p:sp>
      <p:pic>
        <p:nvPicPr>
          <p:cNvPr id="29" name="Image 1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3"/>
          <a:srcRect t="33392" b="33392"/>
          <a:stretch/>
        </p:blipFill>
        <p:spPr>
          <a:xfrm>
            <a:off x="4633547" y="1072012"/>
            <a:ext cx="4327453" cy="1437378"/>
          </a:xfrm>
          <a:prstGeom prst="rect">
            <a:avLst/>
          </a:prstGeom>
        </p:spPr>
      </p:pic>
      <p:sp>
        <p:nvSpPr>
          <p:cNvPr id="30" name="grey6"/>
          <p:cNvSpPr/>
          <p:nvPr/>
        </p:nvSpPr>
        <p:spPr>
          <a:xfrm>
            <a:off x="4771842" y="1220708"/>
            <a:ext cx="950888" cy="161925"/>
          </a:xfrm>
          <a:prstGeom prst="roundRect">
            <a:avLst>
              <a:gd name="adj" fmla="val 20000"/>
            </a:avLst>
          </a:prstGeom>
          <a:solidFill>
            <a:srgbClr val="FFFFFF">
              <a:alpha val="16000"/>
            </a:srgbClr>
          </a:solidFill>
          <a:ln w="5292">
            <a:solidFill>
              <a:srgbClr val="FFFFFF">
                <a:alpha val="19000"/>
              </a:srgbClr>
            </a:solidFill>
          </a:ln>
        </p:spPr>
        <p:txBody>
          <a:bodyPr wrap="square" lIns="52827" tIns="19116" rIns="52827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773663" y="1264333"/>
            <a:ext cx="95551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{{case_study_2_category}}</a:t>
            </a:r>
            <a:endParaRPr lang="en-US" sz="600" dirty="0">
              <a:latin typeface="TWK Lausanne"/>
              <a:ea typeface="TWK Lausanne"/>
            </a:endParaRPr>
          </a:p>
        </p:txBody>
      </p:sp>
      <p:sp>
        <p:nvSpPr>
          <p:cNvPr id="32" name="case_study_6_name"/>
          <p:cNvSpPr/>
          <p:nvPr/>
        </p:nvSpPr>
        <p:spPr>
          <a:xfrm>
            <a:off x="4777564" y="1478919"/>
            <a:ext cx="1245534" cy="132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84"/>
              </a:lnSpc>
            </a:pPr>
            <a:r>
              <a:rPr lang="en-US" sz="9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{{case_study_2_name}}</a:t>
            </a:r>
            <a:endParaRPr lang="en-US" sz="1275" dirty="0">
              <a:latin typeface="TWK Lausanne"/>
              <a:ea typeface="TWK Lausanne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001288" y="3671549"/>
            <a:ext cx="287149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{{case_study_2_solution_1}}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{{case_study_2_solution_2}}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{{case_study_2_solution_3}}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001288" y="4285596"/>
            <a:ext cx="287149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{{case_study_2_impact_1}}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{{case_study_2_impact_2}}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31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>
                    <a:alpha val="60000"/>
                  </a:srgbClr>
                </a:solidFill>
                <a:latin typeface="TWK Lausanne"/>
                <a:ea typeface="TWK Lausanne"/>
                <a:cs typeface="Lato" pitchFamily="34" charset="-120"/>
              </a:rPr>
              <a:t>{{case_study_2_impact_3}}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194734" y="552613"/>
            <a:ext cx="8763447" cy="297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2B2A35"/>
                </a:solidFill>
                <a:latin typeface="TWK Lausanne"/>
                <a:ea typeface="TWK Lausanne"/>
                <a:cs typeface="Lato" pitchFamily="34" charset="-120"/>
              </a:rPr>
              <a:t>{{slide_case_studies_subtitle}}</a:t>
            </a:r>
            <a:endParaRPr lang="en-US" sz="1800" dirty="0">
              <a:latin typeface="TWK Lausanne"/>
              <a:ea typeface="TWK Lausanne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75709" y="180317"/>
            <a:ext cx="8190757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{{slide_case_studies_title}}</a:t>
            </a:r>
            <a:endParaRPr lang="en-US" sz="900" dirty="0">
              <a:latin typeface="TWK Lausanne"/>
              <a:ea typeface="TWK Lausanne"/>
            </a:endParaRPr>
          </a:p>
        </p:txBody>
      </p:sp>
      <p:pic>
        <p:nvPicPr>
          <p:cNvPr id="37" name="Image 2" descr="https://icon-sets.static.services.pitch.com/icon-sets/Material-Outlined/map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4010" y="200163"/>
            <a:ext cx="133350" cy="133350"/>
          </a:xfrm>
          <a:prstGeom prst="rect">
            <a:avLst/>
          </a:prstGeom>
        </p:spPr>
      </p:pic>
      <p:sp>
        <p:nvSpPr>
          <p:cNvPr id="38" name="case_study_5_name"/>
          <p:cNvSpPr/>
          <p:nvPr/>
        </p:nvSpPr>
        <p:spPr>
          <a:xfrm>
            <a:off x="333783" y="1479287"/>
            <a:ext cx="1245534" cy="132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084"/>
              </a:lnSpc>
            </a:pPr>
            <a:r>
              <a:rPr lang="en-US" sz="90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{{case_study_1_name}}</a:t>
            </a:r>
            <a:endParaRPr lang="en-US" sz="1275" dirty="0">
              <a:latin typeface="TWK Lausanne"/>
              <a:ea typeface="TWK Lausanne"/>
            </a:endParaRPr>
          </a:p>
        </p:txBody>
      </p:sp>
      <p:sp>
        <p:nvSpPr>
          <p:cNvPr id="39" name="metric_label_case_study_5"/>
          <p:cNvSpPr/>
          <p:nvPr/>
        </p:nvSpPr>
        <p:spPr>
          <a:xfrm>
            <a:off x="1023676" y="2142329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{{metric_label_case_study_1}}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0" name="n6"/>
          <p:cNvSpPr/>
          <p:nvPr/>
        </p:nvSpPr>
        <p:spPr>
          <a:xfrm>
            <a:off x="4772734" y="2067102"/>
            <a:ext cx="958276" cy="309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{{n2}}</a:t>
            </a:r>
            <a:r>
              <a:rPr lang="en-US" sz="800" kern="0" spc="-60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   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1" name="metric_label_case_study_6"/>
          <p:cNvSpPr/>
          <p:nvPr/>
        </p:nvSpPr>
        <p:spPr>
          <a:xfrm>
            <a:off x="5460630" y="2145865"/>
            <a:ext cx="1480918" cy="235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800" kern="0" spc="12" dirty="0">
                <a:solidFill>
                  <a:srgbClr val="FFFFFF"/>
                </a:solidFill>
                <a:latin typeface="TWK Lausanne"/>
                <a:ea typeface="TWK Lausanne"/>
                <a:cs typeface="Lato" pitchFamily="34" charset="-120"/>
              </a:rPr>
              <a:t>{{metric_label_case_study_2}}</a:t>
            </a:r>
            <a:endParaRPr lang="en-US" sz="1350" dirty="0">
              <a:latin typeface="TWK Lausanne"/>
              <a:ea typeface="TWK Lausan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6570" y="4169714"/>
            <a:ext cx="1616212" cy="258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400" kern="0" spc="12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{{case_study_name}}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2116" y="484360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 wrap="square" lIns="486363" tIns="1124" rIns="486363" bIns="1124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</a:endParaRPr>
          </a:p>
        </p:txBody>
      </p:sp>
      <p:sp>
        <p:nvSpPr>
          <p:cNvPr id="5" name="Text 2"/>
          <p:cNvSpPr/>
          <p:nvPr/>
        </p:nvSpPr>
        <p:spPr>
          <a:xfrm>
            <a:off x="8730332" y="4896433"/>
            <a:ext cx="218294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/>
                <a:ea typeface="TWK Lausanne" pitchFamily="34" charset="-122"/>
                <a:cs typeface="TWK Lausanne" pitchFamily="34" charset="-120"/>
              </a:rPr>
              <a:t>{{sn}}</a:t>
            </a:r>
            <a:endParaRPr lang="en-US" sz="675" dirty="0">
              <a:latin typeface="TWK Lausanne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22458" y="4896433"/>
            <a:ext cx="646621" cy="137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080"/>
              </a:lnSpc>
            </a:pPr>
            <a:r>
              <a:rPr lang="en-US" sz="700" kern="0" spc="12" dirty="0">
                <a:solidFill>
                  <a:srgbClr val="939DA8"/>
                </a:solidFill>
                <a:latin typeface="TWK Lausanne" pitchFamily="34" charset="0"/>
                <a:ea typeface="TWK Lausanne"/>
                <a:cs typeface="TWK Lausanne" pitchFamily="34" charset="-120"/>
              </a:rPr>
              <a:t>Augusta Labs</a:t>
            </a:r>
            <a:endParaRPr lang="en-US" sz="675" dirty="0">
              <a:ea typeface="TWK Lausanne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4712" y="906245"/>
            <a:ext cx="8754531" cy="9525"/>
          </a:xfrm>
          <a:prstGeom prst="roundRect">
            <a:avLst>
              <a:gd name="adj" fmla="val -9600000"/>
            </a:avLst>
          </a:prstGeom>
          <a:solidFill>
            <a:srgbClr val="E5E7F0"/>
          </a:solidFill>
          <a:ln/>
        </p:spPr>
        <p:txBody>
          <a:bodyPr/>
          <a:lstStyle/>
          <a:p>
            <a:endParaRPr lang="en-GB">
              <a:latin typeface="TWK Lausanne"/>
              <a:ea typeface="TWK Lausanne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19159" y="1069592"/>
            <a:ext cx="4220765" cy="979030"/>
          </a:xfrm>
          <a:prstGeom prst="roundRect">
            <a:avLst>
              <a:gd name="adj" fmla="val 7783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234487" tIns="115580" rIns="234487" bIns="115580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47420" y="1502325"/>
            <a:ext cx="4001132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{{challenge_1}}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{{challenge_2}}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{{challenge_3}}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69697" y="1219056"/>
            <a:ext cx="472437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lang="en-US" sz="8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CHALLENGE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73411" y="1418530"/>
            <a:ext cx="3911371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17298" tIns="562" rIns="21729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19306" y="2216244"/>
            <a:ext cx="4220765" cy="1266342"/>
          </a:xfrm>
          <a:prstGeom prst="roundRect">
            <a:avLst>
              <a:gd name="adj" fmla="val 6017"/>
            </a:avLst>
          </a:prstGeom>
          <a:solidFill>
            <a:srgbClr val="FFFFFF"/>
          </a:solidFill>
          <a:ln w="5292">
            <a:solidFill>
              <a:srgbClr val="E5E7F0"/>
            </a:solidFill>
            <a:prstDash val="solid"/>
          </a:ln>
        </p:spPr>
        <p:txBody>
          <a:bodyPr/>
          <a:lstStyle/>
          <a:p>
            <a:endParaRPr lang="en-GB">
              <a:latin typeface="TWK Lausanne"/>
              <a:ea typeface="TWK Lausanne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47568" y="2648977"/>
            <a:ext cx="3941118" cy="680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73"/>
              </a:lnSpc>
            </a:pPr>
            <a:r>
              <a:rPr lang="en-US" sz="800" kern="0" spc="-24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{{solution_intro}}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{{solution_1}}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{{solution_2}}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{{solution_3}}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kern="0" spc="-24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{{solution_4}}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69844" y="2365708"/>
            <a:ext cx="417807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lang="en-US" sz="8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SOLUTION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73558" y="2565183"/>
            <a:ext cx="3911371" cy="4763"/>
          </a:xfrm>
          <a:prstGeom prst="roundRect">
            <a:avLst>
              <a:gd name="adj" fmla="val -19197984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17298" tIns="562" rIns="21729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19292" y="3627947"/>
            <a:ext cx="4220765" cy="979030"/>
          </a:xfrm>
          <a:prstGeom prst="roundRect">
            <a:avLst>
              <a:gd name="adj" fmla="val 7783"/>
            </a:avLst>
          </a:prstGeom>
          <a:solidFill>
            <a:srgbClr val="FFFFFF"/>
          </a:solidFill>
          <a:ln w="5292">
            <a:solidFill>
              <a:srgbClr val="E5E7F0"/>
            </a:solidFill>
            <a:prstDash val="solid"/>
          </a:ln>
        </p:spPr>
        <p:txBody>
          <a:bodyPr/>
          <a:lstStyle/>
          <a:p>
            <a:endParaRPr lang="en-GB">
              <a:latin typeface="TWK Lausanne"/>
              <a:ea typeface="TWK Lausanne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47553" y="4060680"/>
            <a:ext cx="3837310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{{impact_1}}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{{impact_2}}</a:t>
            </a:r>
            <a:endParaRPr lang="en-US" sz="825" dirty="0">
              <a:latin typeface="TWK Lausanne"/>
              <a:ea typeface="TWK Lausanne"/>
            </a:endParaRPr>
          </a:p>
          <a:p>
            <a:pPr marL="190500" indent="-190500" algn="l">
              <a:lnSpc>
                <a:spcPts val="1073"/>
              </a:lnSpc>
              <a:buSzPct val="100000"/>
              <a:buChar char="•"/>
            </a:pPr>
            <a:r>
              <a:rPr lang="en-US" sz="8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{{impact_3}}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69830" y="3777411"/>
            <a:ext cx="319768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lang="en-US" sz="800" kern="0" spc="-24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IMPACT</a:t>
            </a:r>
            <a:endParaRPr lang="en-US" sz="750" dirty="0">
              <a:latin typeface="TWK Lausanne"/>
              <a:ea typeface="TWK Lausanne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73543" y="3976886"/>
            <a:ext cx="3911371" cy="4762"/>
          </a:xfrm>
          <a:prstGeom prst="roundRect">
            <a:avLst>
              <a:gd name="adj" fmla="val -19202016"/>
            </a:avLst>
          </a:prstGeom>
          <a:solidFill>
            <a:srgbClr val="939DA8">
              <a:alpha val="70000"/>
            </a:srgbClr>
          </a:solidFill>
          <a:ln/>
        </p:spPr>
        <p:txBody>
          <a:bodyPr wrap="square" lIns="217298" tIns="562" rIns="217298" bIns="562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94598" y="3633023"/>
            <a:ext cx="4146674" cy="975098"/>
          </a:xfrm>
          <a:prstGeom prst="roundRect">
            <a:avLst>
              <a:gd name="adj" fmla="val 7815"/>
            </a:avLst>
          </a:prstGeom>
          <a:solidFill>
            <a:srgbClr val="F9F9F9"/>
          </a:solidFill>
          <a:ln w="5292">
            <a:solidFill>
              <a:srgbClr val="E5E7F0"/>
            </a:solidFill>
          </a:ln>
        </p:spPr>
        <p:txBody>
          <a:bodyPr wrap="square" lIns="230371" tIns="115116" rIns="230371" bIns="115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94734" y="552613"/>
            <a:ext cx="8848800" cy="297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0"/>
              </a:lnSpc>
            </a:pPr>
            <a:r>
              <a:rPr lang="en-US" sz="1800" kern="0" spc="-36" dirty="0">
                <a:solidFill>
                  <a:srgbClr val="2B2A35"/>
                </a:solidFill>
                <a:latin typeface="TWK Lausanne"/>
                <a:ea typeface="TWK Lausanne"/>
                <a:cs typeface="Lato" pitchFamily="34" charset="-120"/>
              </a:rPr>
              <a:t>{{slide_case_studies_subtitle}}</a:t>
            </a:r>
            <a:endParaRPr lang="en-US" sz="1800" dirty="0">
              <a:latin typeface="TWK Lausanne"/>
              <a:ea typeface="TWK Lausanne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75709" y="180317"/>
            <a:ext cx="8190719" cy="182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40"/>
              </a:lnSpc>
            </a:pPr>
            <a:r>
              <a:rPr lang="en-US" sz="900" kern="0" spc="12" dirty="0">
                <a:solidFill>
                  <a:srgbClr val="939DA8"/>
                </a:solidFill>
                <a:latin typeface="TWK Lausanne"/>
                <a:ea typeface="TWK Lausanne"/>
                <a:cs typeface="TWK Lausanne" pitchFamily="34" charset="-120"/>
              </a:rPr>
              <a:t>{{slide_case_studies_title}}</a:t>
            </a:r>
            <a:endParaRPr lang="en-US" sz="900" dirty="0">
              <a:latin typeface="TWK Lausanne"/>
              <a:ea typeface="TWK Lausanne"/>
            </a:endParaRPr>
          </a:p>
        </p:txBody>
      </p:sp>
      <p:pic>
        <p:nvPicPr>
          <p:cNvPr id="24" name="Image 0" descr="https://icon-sets.static.services.pitch.com/icon-sets/Material-Outlined/map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94010" y="200163"/>
            <a:ext cx="133350" cy="1333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37974" y="3816897"/>
            <a:ext cx="1136486" cy="1619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5292">
            <a:solidFill>
              <a:srgbClr val="E5E7F0"/>
            </a:solidFill>
          </a:ln>
        </p:spPr>
        <p:txBody>
          <a:bodyPr wrap="square" lIns="63138" tIns="19116" rIns="63138" bIns="19116" rtlCol="0" anchor="ctr"/>
          <a:lstStyle/>
          <a:p>
            <a:pPr algn="ctr">
              <a:lnSpc>
                <a:spcPts val="2160"/>
              </a:lnSpc>
            </a:pP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40234" y="3860522"/>
            <a:ext cx="114184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"/>
              </a:lnSpc>
            </a:pPr>
            <a:r>
              <a:rPr lang="en-US" sz="600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{{case_study_category}}</a:t>
            </a:r>
            <a:endParaRPr lang="en-US" sz="600" dirty="0">
              <a:latin typeface="TWK Lausanne"/>
              <a:ea typeface="TWK Lausanne"/>
            </a:endParaRPr>
          </a:p>
        </p:txBody>
      </p:sp>
      <p:pic>
        <p:nvPicPr>
          <p:cNvPr id="27" name="Image 1" descr="https://pitch-assets-ccb95893-de3f-4266-973c-20049231b248.s3.eu-west-1.amazonaws.com/ff00ba62-7b8d-497c-9d10-9849774952a7?pitch-bytes=278&amp;pitch-content-type=image%2Fpng"/>
          <p:cNvPicPr>
            <a:picLocks noChangeAspect="1"/>
          </p:cNvPicPr>
          <p:nvPr/>
        </p:nvPicPr>
        <p:blipFill>
          <a:blip r:embed="rId5"/>
          <a:srcRect t="20900" b="20900"/>
          <a:stretch/>
        </p:blipFill>
        <p:spPr>
          <a:xfrm>
            <a:off x="196217" y="1070149"/>
            <a:ext cx="4145055" cy="241243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37682" y="4196140"/>
            <a:ext cx="1571328" cy="258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400" kern="0" spc="12" dirty="0">
                <a:solidFill>
                  <a:srgbClr val="545465"/>
                </a:solidFill>
                <a:latin typeface="TWK Lausanne"/>
                <a:ea typeface="TWK Lausanne"/>
                <a:cs typeface="Lato" pitchFamily="34" charset="-120"/>
              </a:rPr>
              <a:t>{{case_study_name}}</a:t>
            </a:r>
            <a:endParaRPr lang="en-US" sz="1350" dirty="0">
              <a:latin typeface="TWK Lausanne"/>
              <a:ea typeface="TWK Lausanne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968169" y="4276586"/>
            <a:ext cx="1210139" cy="152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800" kern="0" spc="12" dirty="0">
                <a:solidFill>
                  <a:srgbClr val="939DA8"/>
                </a:solidFill>
                <a:latin typeface="TWK Lausanne"/>
                <a:ea typeface="TWK Lausanne"/>
                <a:cs typeface="Lato" pitchFamily="34" charset="-120"/>
              </a:rPr>
              <a:t>{{metric_label_case_study}}</a:t>
            </a:r>
            <a:endParaRPr lang="en-US" sz="825" dirty="0">
              <a:latin typeface="TWK Lausanne"/>
              <a:ea typeface="TWK Lausanne"/>
            </a:endParaRPr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15D1D869-119A-EA83-3ECE-792F03076828}"/>
              </a:ext>
            </a:extLst>
          </p:cNvPr>
          <p:cNvSpPr/>
          <p:nvPr/>
        </p:nvSpPr>
        <p:spPr>
          <a:xfrm>
            <a:off x="2151086" y="4175033"/>
            <a:ext cx="876522" cy="322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000" kern="0" spc="-60" dirty="0">
                <a:solidFill>
                  <a:srgbClr val="CFD3D8"/>
                </a:solidFill>
                <a:latin typeface="TWK Lausanne"/>
                <a:ea typeface="TWK Lausanne"/>
                <a:cs typeface="Lato" pitchFamily="34" charset="-120"/>
              </a:rPr>
              <a:t>{{n1}}</a:t>
            </a:r>
            <a:r>
              <a:rPr lang="en-US" sz="800" kern="0" spc="-60" dirty="0">
                <a:solidFill>
                  <a:srgbClr val="CFD3D8"/>
                </a:solidFill>
                <a:latin typeface="TWK Lausanne"/>
                <a:ea typeface="TWK Lausanne"/>
                <a:cs typeface="Lato" pitchFamily="34" charset="-120"/>
              </a:rPr>
              <a:t>   </a:t>
            </a:r>
            <a:endParaRPr lang="en-US" sz="1350" dirty="0">
              <a:solidFill>
                <a:srgbClr val="CFD3D8"/>
              </a:solidFill>
              <a:latin typeface="TWK Lausanne"/>
              <a:ea typeface="TWK Lausan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677</Words>
  <Application>Microsoft Office PowerPoint</Application>
  <PresentationFormat>On-screen Show (16:9)</PresentationFormat>
  <Paragraphs>96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Lato</vt:lpstr>
      <vt:lpstr>TWK Lausanne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studies Template</dc:title>
  <dc:subject>PptxGenJS Presentation</dc:subject>
  <dc:creator>Pitch Software GmbH</dc:creator>
  <cp:lastModifiedBy>Joao Murad Panizzutti</cp:lastModifiedBy>
  <cp:revision>45</cp:revision>
  <dcterms:created xsi:type="dcterms:W3CDTF">2025-11-06T23:01:10Z</dcterms:created>
  <dcterms:modified xsi:type="dcterms:W3CDTF">2025-11-11T11:05:50Z</dcterms:modified>
</cp:coreProperties>
</file>